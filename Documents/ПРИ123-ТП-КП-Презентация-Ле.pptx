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81" r:id="rId3"/>
    <p:sldId id="257" r:id="rId4"/>
    <p:sldId id="258" r:id="rId5"/>
    <p:sldId id="275" r:id="rId6"/>
    <p:sldId id="260" r:id="rId7"/>
    <p:sldId id="262" r:id="rId8"/>
    <p:sldId id="274" r:id="rId9"/>
    <p:sldId id="263" r:id="rId10"/>
    <p:sldId id="266" r:id="rId11"/>
    <p:sldId id="277" r:id="rId12"/>
    <p:sldId id="279" r:id="rId13"/>
    <p:sldId id="280" r:id="rId14"/>
    <p:sldId id="264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70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2436"/>
    <a:srgbClr val="E05A29"/>
    <a:srgbClr val="9C90FC"/>
    <a:srgbClr val="9C72C4"/>
    <a:srgbClr val="F2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7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3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8" d="100"/>
          <a:sy n="98" d="100"/>
        </p:scale>
        <p:origin x="359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8A29CD65-890D-45EE-9DCE-C3E6833D55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D5FE5A1-69DD-4C17-A956-CD07F405CA8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803AB-70AF-46BA-A97F-360719B42A94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F3586F6-4342-40B9-AAB1-AE3CFE4A63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FE4D866-77FE-4367-88AD-1755D14E00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0F0A3C-A11B-47A7-B9E9-C756C4DC64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3694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5A5D7E-8C29-41EC-827C-31FD8EE82E3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753DF-6837-48AD-A75B-91D88E13C4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0559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AB4710-E325-4A90-8B82-67AD162C3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AD71140-B818-4933-B4B7-F12C7D0DA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150E5E-F701-4C21-B042-0BFD9B5F2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AB8F6-CA97-4397-AA01-61AA9A92B7B1}" type="datetime1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338B86-11D7-4264-8149-115F5E367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26473F-44F9-4F40-B978-F3C379D66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173787"/>
            <a:ext cx="685800" cy="365125"/>
          </a:xfrm>
        </p:spPr>
        <p:txBody>
          <a:bodyPr/>
          <a:lstStyle>
            <a:lvl1pPr>
              <a:defRPr b="1"/>
            </a:lvl1pPr>
          </a:lstStyle>
          <a:p>
            <a:fld id="{53C82F7A-B581-4A0B-8CFB-8CE1E64145D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0E02029-BBBE-4761-A94F-79A73D6F08A8}"/>
              </a:ext>
            </a:extLst>
          </p:cNvPr>
          <p:cNvSpPr/>
          <p:nvPr userDrawn="1"/>
        </p:nvSpPr>
        <p:spPr>
          <a:xfrm>
            <a:off x="1019174" y="6529278"/>
            <a:ext cx="10410826" cy="119172"/>
          </a:xfrm>
          <a:prstGeom prst="rect">
            <a:avLst/>
          </a:prstGeom>
          <a:solidFill>
            <a:srgbClr val="E05A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5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A915F5-6406-49DC-99BA-DD2D97B7F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745713-859E-4229-83BD-411CC9F4A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882DDA-F936-49CA-8A66-664F25276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6320E-3258-41E3-A2C0-4FA748F56997}" type="datetime1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7DA4CD-FEAC-4196-8898-E490748EB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E8C1C9-48DC-4F42-A46F-517C4CC93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7049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E491C9-1847-4C38-AD1C-5B166291D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A634AF-5E43-4622-B55F-D547227B4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3FCEC8-B94F-439C-98E9-2C8C00CAD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9EA3-F521-43CB-A83E-AB38FD04BBF3}" type="datetime1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2CE716-3C01-4F94-A386-397761714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F47EA4-55DA-44C0-B9E8-8353002AA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74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D29221-578A-486F-A1B6-F377B7600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573E1E-C350-45F8-A504-CA1EAE6080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848558-D498-4F2A-91CF-C1D2F0917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32DE4A-2BFC-4648-A2E9-345350B94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FEA-1061-442A-B7BD-CACE33E91450}" type="datetime1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0B2FAE3-EC3A-41F8-B143-BC92917EE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FECE34-C392-458A-969C-EDC414C6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661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8704B8-7C9D-418F-B769-027F5A40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21A9EE-961F-4C71-89EB-93518F964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E1D08D1-F2E9-41CA-BC8B-3D9E8908D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4D6AEAB-552A-450B-93D6-0D68D39A47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B9A525E-7147-4178-A58D-D889F1FC63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F246C47-1BF6-408F-B16D-70EC16DA7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79B60-4A9A-435F-870D-BA3C64BE299E}" type="datetime1">
              <a:rPr lang="ru-RU" smtClean="0"/>
              <a:t>25.12.2025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DC288A-6F67-48F6-BEAE-C6E2C68F9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3BAEB2A-FB52-4861-9C6F-97B4F7160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89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10836C-F90D-456F-8E1D-64BA32E9B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BD8A468-77B2-440C-814A-A7C2E44E7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A3BE1-B99C-4345-A3C1-1E40F27AC1F4}" type="datetime1">
              <a:rPr lang="ru-RU" smtClean="0"/>
              <a:t>25.12.2025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9CECDD8-D594-4DAA-A821-184A54FD3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0C60B5A-2B81-47DC-90DB-A8E132308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098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B84A227-1B8C-4FEE-9C00-69586FD6F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1695-556E-46EC-B764-D2848BC7579B}" type="datetime1">
              <a:rPr lang="ru-RU" smtClean="0"/>
              <a:t>25.12.2025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FA4971B-BDE0-4D37-9E85-6C7481154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B36AEC-C2DB-49AB-A038-B594A0878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4811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BD46A-E531-47AE-A081-DA11323B3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2789F9-991A-448F-BB5E-D617D0AF1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B2BDDCC-46C3-4D94-A941-2B407B9B5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85A12AD-D95C-4ACB-A530-460D5C912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E7493-CD43-4E29-BC10-8A20CE3685ED}" type="datetime1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EDD776-5FFA-4042-83DD-6CBE65A78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E26A1C-EEC6-4643-B442-850C8A1DF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1829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ECD8E4-937E-4802-8D1C-0DA46BB7D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186733C-5B74-453C-86F1-F85FDD2C6E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5EDC24-5732-4C47-825F-2C825977B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A4009B4-AE75-4A0D-9D0D-162C60C94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E7992-6605-4886-BFC3-B3B38425DC70}" type="datetime1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A6EC4F-AE47-4F9F-819B-A6AC54947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C19BC2-29BE-4CEB-9D66-6F0EEF087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63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BE5111-ED86-4775-92B8-153F9DBD2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7BDF69C-233C-46B8-9053-8349A68ABB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137FA-C2FB-4CE7-9119-0DAABF985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0C60-F316-4E0B-8E8C-0F331644C25A}" type="datetime1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2C539B-9294-4118-B668-FEF26EE46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D9B12A-3B0A-4BCC-9F51-459CB534A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4710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85EA02E-6DE5-4A13-8967-AB9C400CEB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685B89C-A513-4F34-8B11-E93608961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DCDD5A-D1A8-4BBF-BA1A-56BB9FD41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D87B-6244-4F09-B288-26942B856BBA}" type="datetime1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ED5EEF-9BD5-4F0A-9B5D-1F3591CC1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DC96A5-74DF-4892-A3B5-CC93DBA08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6298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>
            <a:extLst>
              <a:ext uri="{FF2B5EF4-FFF2-40B4-BE49-F238E27FC236}">
                <a16:creationId xmlns:a16="http://schemas.microsoft.com/office/drawing/2014/main" id="{3137C986-A32E-478D-AE06-947A3749B964}"/>
              </a:ext>
            </a:extLst>
          </p:cNvPr>
          <p:cNvSpPr>
            <a:spLocks noChangeAspect="1"/>
          </p:cNvSpPr>
          <p:nvPr userDrawn="1"/>
        </p:nvSpPr>
        <p:spPr>
          <a:xfrm>
            <a:off x="11500066" y="5961730"/>
            <a:ext cx="433638" cy="433638"/>
          </a:xfrm>
          <a:prstGeom prst="ellipse">
            <a:avLst/>
          </a:prstGeom>
          <a:solidFill>
            <a:srgbClr val="13243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89E6DA-6C9B-4648-A561-BBB2AEAE1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25B4A3-3F78-468E-96DA-A0B231F3E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9D90C5-CAA5-4EC3-A8A2-885E9BEF5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9A7D0-0137-45AC-8E86-590BF6B958FD}" type="datetime1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4891BD-7A4F-40C7-B807-D9B242413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CC0BA1-54DA-45E2-BAEA-37A3B6E3CF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991225"/>
            <a:ext cx="5143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  <a:latin typeface="Montserrat Alternates" panose="00000500000000000000" pitchFamily="2" charset="-52"/>
              </a:defRPr>
            </a:lvl1pPr>
          </a:lstStyle>
          <a:p>
            <a:fld id="{53C82F7A-B581-4A0B-8CFB-8CE1E64145D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6CA32AB-5C95-4704-BDD5-F51A54FCB4FD}"/>
              </a:ext>
            </a:extLst>
          </p:cNvPr>
          <p:cNvSpPr/>
          <p:nvPr userDrawn="1"/>
        </p:nvSpPr>
        <p:spPr>
          <a:xfrm>
            <a:off x="838200" y="209550"/>
            <a:ext cx="10515599" cy="120372"/>
          </a:xfrm>
          <a:prstGeom prst="rect">
            <a:avLst/>
          </a:prstGeom>
          <a:solidFill>
            <a:srgbClr val="9C90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CE49ED0-3BC8-482B-B5D8-5BCCBFDBBA1C}"/>
              </a:ext>
            </a:extLst>
          </p:cNvPr>
          <p:cNvSpPr/>
          <p:nvPr userDrawn="1"/>
        </p:nvSpPr>
        <p:spPr>
          <a:xfrm>
            <a:off x="838200" y="6529278"/>
            <a:ext cx="10515599" cy="120372"/>
          </a:xfrm>
          <a:prstGeom prst="rect">
            <a:avLst/>
          </a:prstGeom>
          <a:solidFill>
            <a:srgbClr val="E05A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272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 Alternates" panose="000005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 Alternates" panose="000005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 Alternates" panose="000005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 Alternates" panose="000005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 Alternates" panose="000005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 Alternates" panose="000005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10E5EA-EB6C-47DE-8CC6-E912FE98A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6121" y="1466850"/>
            <a:ext cx="9736932" cy="820738"/>
          </a:xfrm>
        </p:spPr>
        <p:txBody>
          <a:bodyPr>
            <a:noAutofit/>
          </a:bodyPr>
          <a:lstStyle/>
          <a:p>
            <a:r>
              <a:rPr lang="ru-RU" sz="5000" dirty="0">
                <a:latin typeface="Montserrat Alternates" panose="00000500000000000000" pitchFamily="2" charset="-52"/>
              </a:rPr>
              <a:t>Курсовое проектирование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E94B02A-F6F2-4582-A13F-50E5BA44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7887" y="2705894"/>
            <a:ext cx="7896226" cy="723106"/>
          </a:xfrm>
        </p:spPr>
        <p:txBody>
          <a:bodyPr>
            <a:normAutofit fontScale="92500" lnSpcReduction="10000"/>
          </a:bodyPr>
          <a:lstStyle/>
          <a:p>
            <a:r>
              <a:rPr lang="ru-RU" sz="2000" dirty="0">
                <a:cs typeface="Times New Roman" panose="02020603050405020304" pitchFamily="18" charset="0"/>
              </a:rPr>
              <a:t>Проектирование и разработка программной системы</a:t>
            </a:r>
          </a:p>
          <a:p>
            <a:r>
              <a:rPr lang="ru-RU" sz="2000" dirty="0">
                <a:cs typeface="Times New Roman" panose="02020603050405020304" pitchFamily="18" charset="0"/>
              </a:rPr>
              <a:t>информационной системы «Туристическое агентство»</a:t>
            </a:r>
          </a:p>
          <a:p>
            <a:endParaRPr lang="ru-RU" sz="2000" dirty="0">
              <a:latin typeface="Montserrat Alternates" panose="00000500000000000000" pitchFamily="2" charset="-52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561049-78C2-4DE5-B720-5AD5496C2EAE}"/>
              </a:ext>
            </a:extLst>
          </p:cNvPr>
          <p:cNvSpPr txBox="1"/>
          <p:nvPr/>
        </p:nvSpPr>
        <p:spPr>
          <a:xfrm>
            <a:off x="347663" y="4597400"/>
            <a:ext cx="30313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Alternates" panose="00000500000000000000" pitchFamily="2" charset="-52"/>
              </a:rPr>
              <a:t>Работу выполнил: студент гр. ПРИ-123</a:t>
            </a:r>
          </a:p>
          <a:p>
            <a:r>
              <a:rPr lang="ru-RU" dirty="0">
                <a:latin typeface="Montserrat Alternates" panose="00000500000000000000" pitchFamily="2" charset="-52"/>
              </a:rPr>
              <a:t>Ле Тхань Лонг</a:t>
            </a:r>
          </a:p>
          <a:p>
            <a:endParaRPr lang="ru-RU" dirty="0">
              <a:latin typeface="Montserrat Alternates" panose="00000500000000000000" pitchFamily="2" charset="-52"/>
            </a:endParaRPr>
          </a:p>
          <a:p>
            <a:r>
              <a:rPr lang="ru-RU" dirty="0">
                <a:latin typeface="Montserrat Alternates" panose="00000500000000000000" pitchFamily="2" charset="-52"/>
              </a:rPr>
              <a:t>Принял:</a:t>
            </a:r>
          </a:p>
          <a:p>
            <a:r>
              <a:rPr lang="ru-RU" dirty="0">
                <a:latin typeface="Montserrat Alternates" panose="00000500000000000000" pitchFamily="2" charset="-52"/>
              </a:rPr>
              <a:t>доц. Вершинин В.В.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9F2F4FA-F79A-4777-BA82-A9CCCD4B382C}"/>
              </a:ext>
            </a:extLst>
          </p:cNvPr>
          <p:cNvSpPr/>
          <p:nvPr/>
        </p:nvSpPr>
        <p:spPr>
          <a:xfrm>
            <a:off x="890587" y="209550"/>
            <a:ext cx="10410826" cy="119172"/>
          </a:xfrm>
          <a:prstGeom prst="rect">
            <a:avLst/>
          </a:prstGeom>
          <a:solidFill>
            <a:srgbClr val="9C90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0B7EC2E-C76E-4EE5-9A07-5A20E9010AC6}"/>
              </a:ext>
            </a:extLst>
          </p:cNvPr>
          <p:cNvSpPr/>
          <p:nvPr/>
        </p:nvSpPr>
        <p:spPr>
          <a:xfrm>
            <a:off x="1019174" y="6529278"/>
            <a:ext cx="10410826" cy="119172"/>
          </a:xfrm>
          <a:prstGeom prst="rect">
            <a:avLst/>
          </a:prstGeom>
          <a:solidFill>
            <a:srgbClr val="E05A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14500BD9-CD2C-42C8-A621-823B2D02DE06}"/>
              </a:ext>
            </a:extLst>
          </p:cNvPr>
          <p:cNvSpPr txBox="1">
            <a:spLocks/>
          </p:cNvSpPr>
          <p:nvPr/>
        </p:nvSpPr>
        <p:spPr>
          <a:xfrm>
            <a:off x="11329987" y="5986601"/>
            <a:ext cx="5143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Montserrat Alternates" panose="00000500000000000000" pitchFamily="2" charset="-5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C82F7A-B581-4A0B-8CFB-8CE1E64145D9}" type="slidenum">
              <a:rPr lang="ru-RU" smtClean="0">
                <a:solidFill>
                  <a:schemeClr val="bg1"/>
                </a:solidFill>
              </a:rPr>
              <a:pPr/>
              <a:t>1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27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EF92F7-1038-4DE6-88F8-8CA4E6FBF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4283" y="464079"/>
            <a:ext cx="3763433" cy="863600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Montserrat Alternates" panose="00000500000000000000" pitchFamily="2" charset="-52"/>
              </a:rPr>
              <a:t>Цель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E56AF5-BCD5-40D5-9DB6-D55D9BD32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2634"/>
            <a:ext cx="10515600" cy="1385358"/>
          </a:xfrm>
        </p:spPr>
        <p:txBody>
          <a:bodyPr>
            <a:noAutofit/>
          </a:bodyPr>
          <a:lstStyle/>
          <a:p>
            <a:pPr marL="0" indent="449263" algn="just">
              <a:lnSpc>
                <a:spcPct val="150000"/>
              </a:lnSpc>
              <a:buNone/>
            </a:pPr>
            <a:r>
              <a:rPr lang="ru-RU" sz="1800" dirty="0"/>
              <a:t>Разработать программную систему для автоматизации деятельности туристического агентства для повышения эффективности работы с клиентами и партнёрами. </a:t>
            </a:r>
            <a:endParaRPr lang="ru-RU" sz="1800" dirty="0">
              <a:latin typeface="Montserrat Alternates" panose="00000500000000000000" pitchFamily="2" charset="-52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8C5850-95CD-4B43-B549-014D4C298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2</a:t>
            </a:fld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BCD65E2D-E212-485A-AB79-D82B35F16089}"/>
              </a:ext>
            </a:extLst>
          </p:cNvPr>
          <p:cNvSpPr txBox="1">
            <a:spLocks/>
          </p:cNvSpPr>
          <p:nvPr/>
        </p:nvSpPr>
        <p:spPr>
          <a:xfrm>
            <a:off x="838200" y="3517370"/>
            <a:ext cx="10515600" cy="2562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Alternates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Alternates" panose="000005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Alternates" panose="000005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Alternates" panose="000005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Alternates" panose="000005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ru-RU" sz="1800" dirty="0"/>
              <a:t>предоставить клиентам удобный инструмент для поиска, бронирования и оплаты туров;</a:t>
            </a:r>
          </a:p>
          <a:p>
            <a:pPr algn="just">
              <a:lnSpc>
                <a:spcPct val="100000"/>
              </a:lnSpc>
            </a:pPr>
            <a:r>
              <a:rPr lang="ru-RU" sz="1800" dirty="0"/>
              <a:t>обеспечить менеджеров и контент-менеджеров средствами для управления турами и заказами;</a:t>
            </a:r>
          </a:p>
          <a:p>
            <a:pPr algn="just">
              <a:lnSpc>
                <a:spcPct val="100000"/>
              </a:lnSpc>
            </a:pPr>
            <a:r>
              <a:rPr lang="ru-RU" sz="1800" dirty="0"/>
              <a:t>организовать взаимодействие с партнёрами (отелями, перевозчиками, туроператорами) через процесс подтверждения бронирований;</a:t>
            </a:r>
          </a:p>
          <a:p>
            <a:pPr algn="just">
              <a:lnSpc>
                <a:spcPct val="100000"/>
              </a:lnSpc>
            </a:pPr>
            <a:r>
              <a:rPr lang="ru-RU" sz="1800" dirty="0"/>
              <a:t>вести учёт клиентов, туров, бронирований и оплат.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CC959731-3E59-45AA-A47C-46D69C712AC6}"/>
              </a:ext>
            </a:extLst>
          </p:cNvPr>
          <p:cNvSpPr txBox="1">
            <a:spLocks/>
          </p:cNvSpPr>
          <p:nvPr/>
        </p:nvSpPr>
        <p:spPr>
          <a:xfrm>
            <a:off x="4057649" y="2653770"/>
            <a:ext cx="4076700" cy="8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ontserrat Alternates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sz="3200" dirty="0"/>
              <a:t>Задачи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51693800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EF92F7-1038-4DE6-88F8-8CA4E6FBF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968375"/>
            <a:ext cx="10287000" cy="863600"/>
          </a:xfrm>
        </p:spPr>
        <p:txBody>
          <a:bodyPr/>
          <a:lstStyle/>
          <a:p>
            <a:r>
              <a:rPr lang="ru-RU" dirty="0">
                <a:latin typeface="Montserrat Alternates" panose="00000500000000000000" pitchFamily="2" charset="-52"/>
              </a:rPr>
              <a:t>Описание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E56AF5-BCD5-40D5-9DB6-D55D9BD32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2435"/>
            <a:ext cx="10515600" cy="3848790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ru-RU" sz="2000" dirty="0"/>
              <a:t>Туристическое агентство занимается подбором, формированием и продажей туристических услуг, выступая посредником между клиентами и партнёрами.</a:t>
            </a:r>
            <a:endParaRPr lang="ru-RU" sz="2000" dirty="0">
              <a:latin typeface="Montserrat Alternates" panose="00000500000000000000" pitchFamily="2" charset="-5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ru-RU" sz="2000" dirty="0"/>
              <a:t>Агентство обеспечивает удобный доступ к информации о турах и поддерживает клиентов на всех этапах взаимодействия.</a:t>
            </a:r>
            <a:r>
              <a:rPr lang="en-US" sz="2000" dirty="0"/>
              <a:t> </a:t>
            </a:r>
            <a:r>
              <a:rPr lang="ru-RU" sz="2000" dirty="0"/>
              <a:t>Ключевые процессы туристического агентства — это поиск и подбор туров, оформление и подтверждение бронирований, проведение оплат и управление актуальными предложениями.</a:t>
            </a:r>
            <a:endParaRPr lang="ru-RU" sz="2000" dirty="0">
              <a:latin typeface="Montserrat Alternates" panose="00000500000000000000" pitchFamily="2" charset="-52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8C5850-95CD-4B43-B549-014D4C298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18635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21A9D1-4F99-46ED-9B8C-884641DF6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8216"/>
            <a:ext cx="10515600" cy="1325563"/>
          </a:xfrm>
        </p:spPr>
        <p:txBody>
          <a:bodyPr/>
          <a:lstStyle/>
          <a:p>
            <a:r>
              <a:rPr lang="ru-RU" dirty="0"/>
              <a:t>Пользователи подсистемы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66548A-8FA0-484D-A788-2DABDDDA8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3126" y="1885649"/>
            <a:ext cx="8905747" cy="388907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dirty="0"/>
              <a:t>Менеджер – сотрудник агентства, который консультирует клиентов, оформляет бронирования.</a:t>
            </a:r>
          </a:p>
          <a:p>
            <a:pPr algn="just">
              <a:lnSpc>
                <a:spcPct val="100000"/>
              </a:lnSpc>
            </a:pPr>
            <a:r>
              <a:rPr lang="ru-RU" sz="2000" dirty="0"/>
              <a:t>Контент-менеджер – сотрудник агентства, который формирует, обновляет и управляет данными о турах.</a:t>
            </a:r>
          </a:p>
          <a:p>
            <a:pPr algn="just">
              <a:lnSpc>
                <a:spcPct val="100000"/>
              </a:lnSpc>
            </a:pPr>
            <a:r>
              <a:rPr lang="ru-RU" sz="2000" dirty="0"/>
              <a:t>Клиент – человек, приобретающий туры, может просматривать доступные предложения, бронировать поездки, совершать платежи.</a:t>
            </a:r>
          </a:p>
          <a:p>
            <a:pPr algn="just">
              <a:lnSpc>
                <a:spcPct val="100000"/>
              </a:lnSpc>
            </a:pPr>
            <a:r>
              <a:rPr lang="ru-RU" sz="2000" dirty="0"/>
              <a:t>Партнёр – внешний пользователь (отель, транспортная компания, туроператор), который подтверждает или отклоняет бронирования в рамках предоставляемых услуг.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C837F3-9B21-4E3D-AC44-1649256E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53185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E7F26D-A090-40D7-8F7D-0BD334412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Проектирование</a:t>
            </a:r>
            <a:br>
              <a:rPr lang="ru-RU" dirty="0"/>
            </a:br>
            <a:r>
              <a:rPr lang="ru-RU" sz="2000" dirty="0"/>
              <a:t>Диаграмма состояний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37DD95-CF8D-4595-B91A-F936BDCC4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5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1BC668-8ED3-44B6-92B1-5F23D814A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445" y="1690688"/>
            <a:ext cx="4499110" cy="437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06376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E7F26D-A090-40D7-8F7D-0BD334412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Проектирование</a:t>
            </a:r>
            <a:br>
              <a:rPr lang="ru-RU" dirty="0"/>
            </a:br>
            <a:r>
              <a:rPr lang="ru-RU" sz="2000" dirty="0"/>
              <a:t>Диаграмма прецедентов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37DD95-CF8D-4595-B91A-F936BDCC4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6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52ABA75-19C4-488A-8A0E-9720179AC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633" y="1760442"/>
            <a:ext cx="7814734" cy="416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5192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362EF1-2A88-4C67-915D-746CEE370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260" y="320675"/>
            <a:ext cx="10825480" cy="1325563"/>
          </a:xfrm>
        </p:spPr>
        <p:txBody>
          <a:bodyPr>
            <a:normAutofit/>
          </a:bodyPr>
          <a:lstStyle/>
          <a:p>
            <a:r>
              <a:rPr lang="ru-RU" sz="3600" dirty="0"/>
              <a:t>Описание прецедента</a:t>
            </a:r>
            <a:br>
              <a:rPr lang="ru-RU" sz="3600" dirty="0"/>
            </a:br>
            <a:r>
              <a:rPr lang="ru-RU" sz="2400" dirty="0"/>
              <a:t>«Отменить бронь»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C34876-14B1-456E-8F5D-03C0F2BBA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9887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/>
              <a:t>Предусловие:</a:t>
            </a:r>
            <a:r>
              <a:rPr lang="ru-RU" sz="2000" dirty="0"/>
              <a:t> клиент авторизован в системе и ранее оформлял бронь тура, сроки и условия отмены определены правилами тура.</a:t>
            </a:r>
          </a:p>
          <a:p>
            <a:pPr marL="0" indent="0">
              <a:buNone/>
            </a:pPr>
            <a:r>
              <a:rPr lang="ru-RU" sz="2000" b="1" dirty="0"/>
              <a:t>Действующее лицо:</a:t>
            </a:r>
            <a:r>
              <a:rPr lang="ru-RU" sz="2000" dirty="0"/>
              <a:t> клиент, менеджер от имени клиента.</a:t>
            </a:r>
          </a:p>
          <a:p>
            <a:pPr marL="0" indent="0">
              <a:buNone/>
            </a:pPr>
            <a:r>
              <a:rPr lang="ru-RU" sz="2000" b="1" dirty="0"/>
              <a:t>Основной поток:</a:t>
            </a:r>
            <a:r>
              <a:rPr lang="ru-RU" sz="2000" dirty="0"/>
              <a:t> Отменить бронь.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/>
              <a:t>Клиент открывает личный кабинет и в разделе «Мои бронирования» находит нужную бронь.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/>
              <a:t>Нажимает кнопку «Отменить бронирование».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/>
              <a:t>Система проверяет условия отмены (сроки, штрафы, возврат).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/>
              <a:t>Если отмена допустима, клиент подтверждает отмену.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/>
              <a:t>Система меняет статус брони на «Отменена», фиксирует это в базе данных и при необходимости инициирует процесс возврата средств.	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/>
              <a:t>Клиент получает уведомление об успешной отмене.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71B873-5DBF-4B30-BC89-4262DC826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37711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362EF1-2A88-4C67-915D-746CEE370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260" y="320675"/>
            <a:ext cx="10825480" cy="1325563"/>
          </a:xfrm>
        </p:spPr>
        <p:txBody>
          <a:bodyPr>
            <a:normAutofit/>
          </a:bodyPr>
          <a:lstStyle/>
          <a:p>
            <a:r>
              <a:rPr lang="ru-RU" sz="3600" dirty="0"/>
              <a:t>Описание прецедента</a:t>
            </a:r>
            <a:br>
              <a:rPr lang="ru-RU" sz="3600" dirty="0"/>
            </a:br>
            <a:r>
              <a:rPr lang="ru-RU" sz="2400" dirty="0"/>
              <a:t>«Отменить бронь»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C34876-14B1-456E-8F5D-03C0F2BBA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5372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/>
              <a:t>Альтернативный поток 1: </a:t>
            </a:r>
            <a:r>
              <a:rPr lang="ru-RU" sz="2000" dirty="0"/>
              <a:t>отмена невозможна.</a:t>
            </a:r>
          </a:p>
          <a:p>
            <a:pPr marL="0" indent="0">
              <a:buNone/>
            </a:pPr>
            <a:r>
              <a:rPr lang="ru-RU" sz="2000" dirty="0"/>
              <a:t>Срок для бесплатной отмены истёк или условия брони не позволяют её отменить. Система уведомляет клиента и выводит информацию о штрафах.</a:t>
            </a:r>
          </a:p>
          <a:p>
            <a:pPr marL="0" indent="0">
              <a:buNone/>
            </a:pPr>
            <a:r>
              <a:rPr lang="ru-RU" sz="2000" b="1" dirty="0"/>
              <a:t>Альтернативный поток 2:</a:t>
            </a:r>
            <a:r>
              <a:rPr lang="ru-RU" sz="2000" dirty="0"/>
              <a:t> сбой системы</a:t>
            </a:r>
          </a:p>
          <a:p>
            <a:pPr marL="0" indent="0">
              <a:buNone/>
            </a:pPr>
            <a:r>
              <a:rPr lang="ru-RU" sz="2000" dirty="0"/>
              <a:t>Техническая ошибка (например, недоступность базы данных) не позволяет отменить бронь. В таком случае система уведомляет о невозможности выполнить отмену в данный момент и предлагает повторить позже.</a:t>
            </a:r>
          </a:p>
          <a:p>
            <a:pPr marL="0" indent="0">
              <a:buNone/>
            </a:pPr>
            <a:r>
              <a:rPr lang="ru-RU" sz="2000" b="1" dirty="0"/>
              <a:t>Постусловие:</a:t>
            </a:r>
            <a:r>
              <a:rPr lang="ru-RU" sz="2000" dirty="0"/>
              <a:t> Статус брони изменён на «Отменена», либо клиент получил уведомление о невозможности отмены по условиям тура. Информация о брони обновлена в базе данных и доступна для дальнейшей обработки менеджером.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71B873-5DBF-4B30-BC89-4262DC826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601014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362EF1-2A88-4C67-915D-746CEE370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260" y="320675"/>
            <a:ext cx="10825480" cy="1325563"/>
          </a:xfrm>
        </p:spPr>
        <p:txBody>
          <a:bodyPr>
            <a:normAutofit/>
          </a:bodyPr>
          <a:lstStyle/>
          <a:p>
            <a:r>
              <a:rPr lang="ru-RU" sz="3600" dirty="0"/>
              <a:t>Реализация</a:t>
            </a:r>
            <a:br>
              <a:rPr lang="ru-RU" sz="3600" dirty="0"/>
            </a:br>
            <a:r>
              <a:rPr lang="ru-RU" sz="2400" dirty="0"/>
              <a:t>Базы данных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C34876-14B1-456E-8F5D-03C0F2BBA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263" y="2028200"/>
            <a:ext cx="7045411" cy="358056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200" dirty="0"/>
              <a:t>Для работы с данными был выбран подход </a:t>
            </a:r>
            <a:r>
              <a:rPr lang="ru-RU" sz="2200" dirty="0" err="1"/>
              <a:t>Code</a:t>
            </a:r>
            <a:r>
              <a:rPr lang="ru-RU" sz="2200" dirty="0"/>
              <a:t> </a:t>
            </a:r>
            <a:r>
              <a:rPr lang="ru-RU" sz="2200" dirty="0" err="1"/>
              <a:t>First</a:t>
            </a:r>
            <a:r>
              <a:rPr lang="ru-RU" sz="2200" dirty="0"/>
              <a:t> с использованием ORM </a:t>
            </a:r>
            <a:r>
              <a:rPr lang="ru-RU" sz="2200" dirty="0" err="1"/>
              <a:t>Entity</a:t>
            </a:r>
            <a:r>
              <a:rPr lang="ru-RU" sz="2200" dirty="0"/>
              <a:t> </a:t>
            </a:r>
            <a:r>
              <a:rPr lang="ru-RU" sz="2200" dirty="0" err="1"/>
              <a:t>Framework</a:t>
            </a:r>
            <a:r>
              <a:rPr lang="ru-RU" sz="2200" dirty="0"/>
              <a:t> </a:t>
            </a:r>
            <a:r>
              <a:rPr lang="ru-RU" sz="2200" dirty="0" err="1"/>
              <a:t>Core</a:t>
            </a:r>
            <a:r>
              <a:rPr lang="ru-RU" sz="2200" dirty="0"/>
              <a:t>. В целях поддержания </a:t>
            </a:r>
            <a:r>
              <a:rPr lang="ru-RU" sz="2200" dirty="0" err="1"/>
              <a:t>микросервисной</a:t>
            </a:r>
            <a:r>
              <a:rPr lang="ru-RU" sz="2200" dirty="0"/>
              <a:t> архитектуры для каждого </a:t>
            </a:r>
            <a:r>
              <a:rPr lang="ru-RU" sz="2200" dirty="0" err="1"/>
              <a:t>микросервиса</a:t>
            </a:r>
            <a:r>
              <a:rPr lang="ru-RU" sz="2200" dirty="0"/>
              <a:t> была создана своя база данных, независимая от других. Таким образом сначала были реализованы целевые сущности, на основе которых затем был сгенерирован код создания базы данных </a:t>
            </a:r>
            <a:r>
              <a:rPr lang="ru-RU" sz="2200" dirty="0" err="1"/>
              <a:t>MySQL</a:t>
            </a:r>
            <a:endParaRPr lang="ru-RU" sz="2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71B873-5DBF-4B30-BC89-4262DC826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9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649220-95E2-422A-8AE8-9A6F6C8F3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365" y="1827480"/>
            <a:ext cx="2486372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95752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390DBCE-CB13-4B52-BAF8-B83E8E4EE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6" y="1875498"/>
            <a:ext cx="5579994" cy="418002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HttpPost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("cancel/{id}")]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async Task&lt;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IActionResult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CancelBooking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(int id)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var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GetUserId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var token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GetToken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var booking = await _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context.Bookings.FindAsync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(id);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(booking == null) return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NotFound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bool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isStaff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User.IsInRole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("Admin") ||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User.IsInRole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("Manager");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booking.UserId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!=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&amp;&amp; !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isStaff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return Forbid();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booking.Status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BookingStatus.Cancelled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||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booking.Status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BookingStatus.Failed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BadRequest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("Booking cannot be cancelled.");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ru-RU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464F56-7AB1-43FB-8EF2-541E8608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991225"/>
            <a:ext cx="514350" cy="365125"/>
          </a:xfrm>
        </p:spPr>
        <p:txBody>
          <a:bodyPr/>
          <a:lstStyle/>
          <a:p>
            <a:fld id="{53C82F7A-B581-4A0B-8CFB-8CE1E64145D9}" type="slidenum">
              <a:rPr lang="ru-RU" smtClean="0"/>
              <a:t>10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D5C462-6D7F-48CD-B376-2B3D97669118}"/>
              </a:ext>
            </a:extLst>
          </p:cNvPr>
          <p:cNvSpPr txBox="1"/>
          <p:nvPr/>
        </p:nvSpPr>
        <p:spPr>
          <a:xfrm>
            <a:off x="6427302" y="1780298"/>
            <a:ext cx="505239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if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booking.Status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BookingStatus.Confirmed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&amp;&amp;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booking.PaymentId.HasValue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var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refundReq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RefundRequest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booking.PaymentId.Value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Reason = "User requested cancellation of booking."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var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refundResponse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await _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paymentService.RefundPaymentAsync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refundReq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token);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refundResponse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== null || !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refundResponse.IsSuccess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9538AF17-E65C-47E0-978B-04F070465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260" y="320675"/>
            <a:ext cx="10825480" cy="1325563"/>
          </a:xfrm>
        </p:spPr>
        <p:txBody>
          <a:bodyPr>
            <a:normAutofit/>
          </a:bodyPr>
          <a:lstStyle/>
          <a:p>
            <a:r>
              <a:rPr lang="ru-RU" sz="3600" dirty="0"/>
              <a:t>Реализация</a:t>
            </a:r>
            <a:br>
              <a:rPr lang="ru-RU" sz="3600" dirty="0"/>
            </a:br>
            <a:r>
              <a:rPr lang="ru-RU" sz="2400" dirty="0"/>
              <a:t>Веб-приложение: метод отмены бронирования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16772673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390DBCE-CB13-4B52-BAF8-B83E8E4EE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6" y="1875498"/>
            <a:ext cx="5579994" cy="418002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var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errorMsg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refundResponse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?.Message ?? "Unknown error during refund";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StatusCode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(500, $"Failed to refund payment: {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errorMsg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booking.Status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BookingStatus.Confirmed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||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booking.Status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BookingStatus.PendingPayment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await _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tourService.ReleaseSeatAsync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booking.TourId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booking.NumberOfSeats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token);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booking.Status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BookingStatus.Cancelled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booking.FailureReason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"Cancelled by user/manager.";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await _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context.SaveChangesAsync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Ok(new { Message = "Booking cancelled successfully." });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ru-RU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464F56-7AB1-43FB-8EF2-541E8608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991225"/>
            <a:ext cx="514350" cy="365125"/>
          </a:xfrm>
        </p:spPr>
        <p:txBody>
          <a:bodyPr/>
          <a:lstStyle/>
          <a:p>
            <a:fld id="{53C82F7A-B581-4A0B-8CFB-8CE1E64145D9}" type="slidenum">
              <a:rPr lang="ru-RU" smtClean="0"/>
              <a:t>11</a:t>
            </a:fld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9538AF17-E65C-47E0-978B-04F070465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260" y="320675"/>
            <a:ext cx="10825480" cy="1325563"/>
          </a:xfrm>
        </p:spPr>
        <p:txBody>
          <a:bodyPr>
            <a:normAutofit/>
          </a:bodyPr>
          <a:lstStyle/>
          <a:p>
            <a:r>
              <a:rPr lang="ru-RU" sz="3600" dirty="0"/>
              <a:t>Реализация</a:t>
            </a:r>
            <a:br>
              <a:rPr lang="ru-RU" sz="3600" dirty="0"/>
            </a:br>
            <a:r>
              <a:rPr lang="ru-RU" sz="2400" dirty="0"/>
              <a:t>Веб-приложение: метод отмены бронирования</a:t>
            </a:r>
            <a:endParaRPr lang="ru-RU" sz="36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92952EF-16D8-43DD-B3D8-064FDB460C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1"/>
          <a:stretch/>
        </p:blipFill>
        <p:spPr>
          <a:xfrm>
            <a:off x="6864492" y="2084939"/>
            <a:ext cx="4291600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27096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464F56-7AB1-43FB-8EF2-541E8608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991225"/>
            <a:ext cx="514350" cy="365125"/>
          </a:xfrm>
        </p:spPr>
        <p:txBody>
          <a:bodyPr/>
          <a:lstStyle/>
          <a:p>
            <a:fld id="{53C82F7A-B581-4A0B-8CFB-8CE1E64145D9}" type="slidenum">
              <a:rPr lang="ru-RU" smtClean="0"/>
              <a:t>12</a:t>
            </a:fld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9538AF17-E65C-47E0-978B-04F070465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260" y="320675"/>
            <a:ext cx="10825480" cy="1325563"/>
          </a:xfrm>
        </p:spPr>
        <p:txBody>
          <a:bodyPr>
            <a:normAutofit/>
          </a:bodyPr>
          <a:lstStyle/>
          <a:p>
            <a:r>
              <a:rPr lang="ru-RU" sz="3600" dirty="0"/>
              <a:t>Реализация</a:t>
            </a:r>
            <a:br>
              <a:rPr lang="ru-RU" sz="3600" dirty="0"/>
            </a:br>
            <a:r>
              <a:rPr lang="ru-RU" sz="2400" dirty="0"/>
              <a:t>Клиентская часть: страница бронирований пользователя</a:t>
            </a:r>
            <a:endParaRPr lang="ru-RU" sz="36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4794EB0-0A38-40EB-91C4-01E17D8EE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729" y="1832971"/>
            <a:ext cx="7846541" cy="434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6069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362EF1-2A88-4C67-915D-746CEE370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260" y="259527"/>
            <a:ext cx="1082548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Unit-</a:t>
            </a:r>
            <a:r>
              <a:rPr lang="ru-RU" sz="3600" dirty="0"/>
              <a:t>тестирование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C34876-14B1-456E-8F5D-03C0F2BBA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3303" y="1849036"/>
            <a:ext cx="4667672" cy="400949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Успешное создание бронирования (</a:t>
            </a:r>
            <a:r>
              <a:rPr lang="ru-RU" sz="2000" dirty="0" err="1"/>
              <a:t>Happy</a:t>
            </a:r>
            <a:r>
              <a:rPr lang="ru-RU" sz="2000" dirty="0"/>
              <a:t> </a:t>
            </a:r>
            <a:r>
              <a:rPr lang="ru-RU" sz="2000" dirty="0" err="1"/>
              <a:t>Path</a:t>
            </a:r>
            <a:r>
              <a:rPr lang="ru-RU" sz="2000" dirty="0"/>
              <a:t>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Ошибка: Тур не найден (валидация внешнего ресурса).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Ошибка: Недостаточно мест (бизнес-валидация).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Получение списка моих бронирований (чтение из БД).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Отмена бронирования (изменение состояния).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71B873-5DBF-4B30-BC89-4262DC826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13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160CD85-3A2A-4F9C-ACD1-1896D0915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651437"/>
            <a:ext cx="6002867" cy="433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08433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67A4F2-1BA6-494A-8876-CA0739078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Функциональное тестирование</a:t>
            </a: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464F56-7AB1-43FB-8EF2-541E8608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14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B350575-BFE9-41D2-8B35-7748E42D6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67" y="1830558"/>
            <a:ext cx="5224475" cy="402079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248F5D6-04E3-4F50-A10A-CE24600FD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460" y="2235976"/>
            <a:ext cx="5448837" cy="320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679288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67A4F2-1BA6-494A-8876-CA0739078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реализации</a:t>
            </a: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464F56-7AB1-43FB-8EF2-541E8608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15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845E34-C3A0-4324-84A4-93319482E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166" y="1567657"/>
            <a:ext cx="7577667" cy="454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89970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67A4F2-1BA6-494A-8876-CA0739078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реализации</a:t>
            </a: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464F56-7AB1-43FB-8EF2-541E8608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16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71685A5-B125-4E0C-A534-FDD7BF157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573" y="1535113"/>
            <a:ext cx="7426853" cy="445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6840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67A4F2-1BA6-494A-8876-CA0739078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реализации</a:t>
            </a: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464F56-7AB1-43FB-8EF2-541E8608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17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24A417-C842-49F9-BAAB-D5FAA30A1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467" y="1581786"/>
            <a:ext cx="7349065" cy="440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888280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67A4F2-1BA6-494A-8876-CA0739078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реализации</a:t>
            </a: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464F56-7AB1-43FB-8EF2-541E8608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18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ADD2F5-FC1D-49FE-A9B3-54851E9888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033" y="1485265"/>
            <a:ext cx="7509933" cy="450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981194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67A4F2-1BA6-494A-8876-CA0739078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реализации</a:t>
            </a: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464F56-7AB1-43FB-8EF2-541E8608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19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39D7A34-990B-4131-AEDA-7E7331ECD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167" y="1597025"/>
            <a:ext cx="7323666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208773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67A4F2-1BA6-494A-8876-CA0739078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реализации</a:t>
            </a: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464F56-7AB1-43FB-8EF2-541E8608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20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E2B9D4-580A-42E6-BFE3-70AD698AAF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300" y="1556385"/>
            <a:ext cx="7391400" cy="443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71734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67A4F2-1BA6-494A-8876-CA0739078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реализации</a:t>
            </a: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464F56-7AB1-43FB-8EF2-541E8608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21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A83B9BC-BA68-4384-A517-7404995E1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219" y="1690688"/>
            <a:ext cx="7167561" cy="430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93307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67A4F2-1BA6-494A-8876-CA0739078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реализации</a:t>
            </a: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464F56-7AB1-43FB-8EF2-541E8608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22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A09C7A-EE2A-4942-A8D2-99E8301C8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219" y="1690688"/>
            <a:ext cx="7167561" cy="430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443442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67A4F2-1BA6-494A-8876-CA0739078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реализации</a:t>
            </a: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464F56-7AB1-43FB-8EF2-541E8608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2F7A-B581-4A0B-8CFB-8CE1E64145D9}" type="slidenum">
              <a:rPr lang="ru-RU" smtClean="0"/>
              <a:t>23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79FF4FD-FC20-467F-AAB9-763F89EC0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3800" y="1661637"/>
            <a:ext cx="7264400" cy="43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995344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8C8325-E058-49EC-B1F2-6F926BFC8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993"/>
            <a:ext cx="10515600" cy="1325563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0F6151-1AA9-4DB0-B16B-65CD98B20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948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30000"/>
              </a:lnSpc>
              <a:spcBef>
                <a:spcPts val="1200"/>
              </a:spcBef>
              <a:buNone/>
            </a:pPr>
            <a:r>
              <a:rPr lang="ru-RU" sz="1800" dirty="0"/>
              <a:t>В рамках курсового проекта была разработана программная система «Туристическое агентство» на базе </a:t>
            </a:r>
            <a:r>
              <a:rPr lang="ru-RU" sz="1800" dirty="0" err="1"/>
              <a:t>микросервисной</a:t>
            </a:r>
            <a:r>
              <a:rPr lang="ru-RU" sz="1800" dirty="0"/>
              <a:t> архитектуры. Проект реализован путем декомпозиции общего функционала на пять независимых сервисов, каждый из которых управляет своим набором данных.</a:t>
            </a:r>
          </a:p>
          <a:p>
            <a:pPr marL="0" indent="0" algn="just">
              <a:lnSpc>
                <a:spcPct val="130000"/>
              </a:lnSpc>
              <a:spcBef>
                <a:spcPts val="1200"/>
              </a:spcBef>
              <a:buNone/>
            </a:pPr>
            <a:r>
              <a:rPr lang="ru-RU" sz="1800" dirty="0"/>
              <a:t>Использовался стек ASP.NET </a:t>
            </a:r>
            <a:r>
              <a:rPr lang="ru-RU" sz="1800" dirty="0" err="1"/>
              <a:t>Core</a:t>
            </a:r>
            <a:r>
              <a:rPr lang="ru-RU" sz="1800" dirty="0"/>
              <a:t>, </a:t>
            </a:r>
            <a:r>
              <a:rPr lang="ru-RU" sz="1800" dirty="0" err="1"/>
              <a:t>Code</a:t>
            </a:r>
            <a:r>
              <a:rPr lang="ru-RU" sz="1800" dirty="0"/>
              <a:t> </a:t>
            </a:r>
            <a:r>
              <a:rPr lang="ru-RU" sz="1800" dirty="0" err="1"/>
              <a:t>First</a:t>
            </a:r>
            <a:r>
              <a:rPr lang="ru-RU" sz="1800" dirty="0"/>
              <a:t> с ORM </a:t>
            </a:r>
            <a:r>
              <a:rPr lang="ru-RU" sz="1800" dirty="0" err="1"/>
              <a:t>Entity</a:t>
            </a:r>
            <a:r>
              <a:rPr lang="ru-RU" sz="1800" dirty="0"/>
              <a:t> </a:t>
            </a:r>
            <a:r>
              <a:rPr lang="ru-RU" sz="1800" dirty="0" err="1"/>
              <a:t>Framework</a:t>
            </a:r>
            <a:r>
              <a:rPr lang="ru-RU" sz="1800" dirty="0"/>
              <a:t> </a:t>
            </a:r>
            <a:r>
              <a:rPr lang="ru-RU" sz="1800" dirty="0" err="1"/>
              <a:t>Core</a:t>
            </a:r>
            <a:r>
              <a:rPr lang="ru-RU" sz="1800" dirty="0"/>
              <a:t> на базе СУБД </a:t>
            </a:r>
            <a:r>
              <a:rPr lang="ru-RU" sz="1800" dirty="0" err="1"/>
              <a:t>MySQL</a:t>
            </a:r>
            <a:r>
              <a:rPr lang="ru-RU" sz="1800" dirty="0"/>
              <a:t>. Критически важные аспекты безопасности, включая аутентификацию и авторизацию, были реализованы на основе протокола JWT.</a:t>
            </a:r>
          </a:p>
          <a:p>
            <a:pPr marL="0" indent="0" algn="just">
              <a:lnSpc>
                <a:spcPct val="130000"/>
              </a:lnSpc>
              <a:spcBef>
                <a:spcPts val="1200"/>
              </a:spcBef>
              <a:buNone/>
            </a:pPr>
            <a:r>
              <a:rPr lang="ru-RU" sz="1800" dirty="0"/>
              <a:t>Результатом работы стала полностью функционирующая система </a:t>
            </a:r>
            <a:r>
              <a:rPr lang="ru-RU" sz="1800" dirty="0" err="1"/>
              <a:t>микросервисов</a:t>
            </a:r>
            <a:r>
              <a:rPr lang="ru-RU" sz="1800" dirty="0"/>
              <a:t>, готовая к использованию в туристическом агентстве. Надёжность и корректность взаимодействия между всеми компонентами были подтверждены функциональным тестированием API с использованием инструмента </a:t>
            </a:r>
            <a:r>
              <a:rPr lang="ru-RU" sz="1800" dirty="0" err="1"/>
              <a:t>Postman</a:t>
            </a:r>
            <a:r>
              <a:rPr lang="ru-RU" sz="1800" dirty="0"/>
              <a:t>.</a:t>
            </a:r>
          </a:p>
          <a:p>
            <a:pPr marL="0" indent="0" algn="just">
              <a:lnSpc>
                <a:spcPct val="130000"/>
              </a:lnSpc>
              <a:spcBef>
                <a:spcPts val="1200"/>
              </a:spcBef>
              <a:buNone/>
            </a:pPr>
            <a:endParaRPr lang="ru-RU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77B06A1-8B12-481A-AFF1-7E7430DCB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304" y="5991225"/>
            <a:ext cx="514350" cy="365125"/>
          </a:xfrm>
        </p:spPr>
        <p:txBody>
          <a:bodyPr/>
          <a:lstStyle/>
          <a:p>
            <a:fld id="{53C82F7A-B581-4A0B-8CFB-8CE1E64145D9}" type="slidenum">
              <a:rPr lang="ru-RU" smtClean="0"/>
              <a:t>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430474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367</TotalTime>
  <Words>1034</Words>
  <Application>Microsoft Office PowerPoint</Application>
  <PresentationFormat>Широкоэкранный</PresentationFormat>
  <Paragraphs>130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Arial</vt:lpstr>
      <vt:lpstr>Calibri</vt:lpstr>
      <vt:lpstr>Courier New</vt:lpstr>
      <vt:lpstr>Montserrat Alternates</vt:lpstr>
      <vt:lpstr>Тема Office</vt:lpstr>
      <vt:lpstr>Курсовое проектирование</vt:lpstr>
      <vt:lpstr>Цель работы</vt:lpstr>
      <vt:lpstr>Описание предметной области</vt:lpstr>
      <vt:lpstr>Пользователи подсистемы</vt:lpstr>
      <vt:lpstr>Проектирование Диаграмма состояний</vt:lpstr>
      <vt:lpstr>Проектирование Диаграмма прецедентов</vt:lpstr>
      <vt:lpstr>Описание прецедента «Отменить бронь»</vt:lpstr>
      <vt:lpstr>Описание прецедента «Отменить бронь»</vt:lpstr>
      <vt:lpstr>Реализация Базы данных</vt:lpstr>
      <vt:lpstr>Реализация Веб-приложение: метод отмены бронирования</vt:lpstr>
      <vt:lpstr>Реализация Веб-приложение: метод отмены бронирования</vt:lpstr>
      <vt:lpstr>Реализация Клиентская часть: страница бронирований пользователя</vt:lpstr>
      <vt:lpstr>Unit-тестирование</vt:lpstr>
      <vt:lpstr>Функциональное тестирование</vt:lpstr>
      <vt:lpstr>Результаты реализации</vt:lpstr>
      <vt:lpstr>Результаты реализации</vt:lpstr>
      <vt:lpstr>Результаты реализации</vt:lpstr>
      <vt:lpstr>Результаты реализации</vt:lpstr>
      <vt:lpstr>Результаты реализации</vt:lpstr>
      <vt:lpstr>Результаты реализации</vt:lpstr>
      <vt:lpstr>Результаты реализации</vt:lpstr>
      <vt:lpstr>Результаты реализации</vt:lpstr>
      <vt:lpstr>Результаты реализации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Курсовое проектирование</dc:title>
  <dc:creator>Илья Ле</dc:creator>
  <cp:lastModifiedBy>Илья Ле</cp:lastModifiedBy>
  <cp:revision>21</cp:revision>
  <dcterms:created xsi:type="dcterms:W3CDTF">2025-04-24T11:49:24Z</dcterms:created>
  <dcterms:modified xsi:type="dcterms:W3CDTF">2025-12-25T20:48:42Z</dcterms:modified>
</cp:coreProperties>
</file>